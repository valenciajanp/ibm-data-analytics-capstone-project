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56" r:id="rId5"/>
    <p:sldId id="257" r:id="rId6"/>
    <p:sldId id="258" r:id="rId7"/>
    <p:sldId id="259" r:id="rId8"/>
    <p:sldId id="260" r:id="rId9"/>
    <p:sldId id="278" r:id="rId10"/>
    <p:sldId id="274" r:id="rId11"/>
    <p:sldId id="275"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p:notesSz cx="6858000" cy="18573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3" autoAdjust="0"/>
    <p:restoredTop sz="91480" autoAdjust="0"/>
  </p:normalViewPr>
  <p:slideViewPr>
    <p:cSldViewPr snapToGrid="0">
      <p:cViewPr>
        <p:scale>
          <a:sx n="100" d="100"/>
          <a:sy n="100" d="100"/>
        </p:scale>
        <p:origin x="72" y="42"/>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9.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3.xml"/><Relationship Id="rId1" Type="http://schemas.openxmlformats.org/officeDocument/2006/relationships/tags" Target="../tags/tag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552162"/>
            <a:ext cx="10515600" cy="611620"/>
          </a:xfrm>
        </p:spPr>
        <p:txBody>
          <a:bodyPr anchor="ctr">
            <a:noAutofit/>
          </a:bodyPr>
          <a:lstStyle/>
          <a:p>
            <a:r>
              <a:rPr lang="en-US" dirty="0"/>
              <a:t>Stack Overflow Developer Survey</a:t>
            </a:r>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p:txBody>
          <a:bodyPr>
            <a:normAutofit/>
          </a:bodyPr>
          <a:lstStyle/>
          <a:p>
            <a:pPr marL="0" indent="0">
              <a:buNone/>
            </a:pPr>
            <a:r>
              <a:rPr lang="en-US" dirty="0">
                <a:solidFill>
                  <a:schemeClr val="bg1">
                    <a:lumMod val="75000"/>
                  </a:schemeClr>
                </a:solidFill>
                <a:latin typeface="IBM Plex Mono Medium" panose="020B0609050203000203" pitchFamily="49" charset="0"/>
              </a:rPr>
              <a:t>Jan Paolo Valencia </a:t>
            </a:r>
          </a:p>
          <a:p>
            <a:pPr marL="0" indent="0">
              <a:buNone/>
            </a:pPr>
            <a:r>
              <a:rPr lang="en-US" dirty="0">
                <a:solidFill>
                  <a:schemeClr val="bg1">
                    <a:lumMod val="75000"/>
                  </a:schemeClr>
                </a:solidFill>
                <a:latin typeface="IBM Plex Mono Medium" panose="020B0609050203000203" pitchFamily="49" charset="0"/>
              </a:rPr>
              <a:t>02/17/2026 </a:t>
            </a:r>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389349" y="1630528"/>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t>Data contextualization and analysis goal</a:t>
            </a:r>
          </a:p>
          <a:p>
            <a:r>
              <a:rPr lang="en-US" sz="2200" dirty="0"/>
              <a:t>Methodology description</a:t>
            </a:r>
          </a:p>
          <a:p>
            <a:pPr lvl="1"/>
            <a:r>
              <a:rPr lang="en-US" sz="1800" dirty="0"/>
              <a:t>Data gathering</a:t>
            </a:r>
          </a:p>
          <a:p>
            <a:pPr lvl="1"/>
            <a:r>
              <a:rPr lang="en-US" sz="1800" dirty="0"/>
              <a:t>Data analysis</a:t>
            </a:r>
          </a:p>
          <a:p>
            <a:pPr lvl="1"/>
            <a:r>
              <a:rPr lang="en-US" sz="1800" dirty="0"/>
              <a:t>Data visualizations</a:t>
            </a:r>
          </a:p>
          <a:p>
            <a:r>
              <a:rPr lang="en-US" sz="2200" dirty="0"/>
              <a:t>Results presentation supported with graphs and trends</a:t>
            </a:r>
            <a:endParaRPr lang="en-US" sz="1800" dirty="0"/>
          </a:p>
          <a:p>
            <a:r>
              <a:rPr lang="en-US" sz="2200" dirty="0"/>
              <a:t>Discussion of overall findings and implications regarding the results previously exposed</a:t>
            </a:r>
          </a:p>
          <a:p>
            <a:r>
              <a:rPr lang="en-US" sz="2200" dirty="0"/>
              <a:t>Final conclusion of the carried out research</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733926" y="2136507"/>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solidFill>
                  <a:schemeClr val="tx1"/>
                </a:solidFill>
              </a:rPr>
              <a:t>Stack Overflow's annual Developer Survey is the largest and most comprehensive survey of people who code around the world.</a:t>
            </a:r>
          </a:p>
          <a:p>
            <a:r>
              <a:rPr lang="en-US" sz="2200" dirty="0">
                <a:solidFill>
                  <a:schemeClr val="tx1"/>
                </a:solidFill>
              </a:rPr>
              <a:t>Results does not represent everyone in the developer community.</a:t>
            </a:r>
          </a:p>
          <a:p>
            <a:r>
              <a:rPr lang="en-US" sz="2200" dirty="0">
                <a:solidFill>
                  <a:schemeClr val="tx1"/>
                </a:solidFill>
              </a:rPr>
              <a:t>Nearly 20,000 developers responded to the survey.</a:t>
            </a:r>
          </a:p>
          <a:p>
            <a:r>
              <a:rPr lang="en-US" sz="2200" dirty="0">
                <a:solidFill>
                  <a:schemeClr val="tx1"/>
                </a:solidFill>
              </a:rPr>
              <a:t>Trends to predict where the developers are going.</a:t>
            </a:r>
          </a:p>
          <a:p>
            <a:r>
              <a:rPr lang="en-US" sz="2200" dirty="0">
                <a:solidFill>
                  <a:schemeClr val="tx1"/>
                </a:solidFill>
              </a:rPr>
              <a:t>Characterization of developers around the globe.</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Collect survey data &amp; explore its content</a:t>
            </a:r>
          </a:p>
          <a:p>
            <a:r>
              <a:rPr lang="en-US" sz="2200" dirty="0"/>
              <a:t>Data Wrangling</a:t>
            </a:r>
          </a:p>
          <a:p>
            <a:r>
              <a:rPr lang="en-US" sz="2200" dirty="0"/>
              <a:t>Exploratory data analysis</a:t>
            </a:r>
          </a:p>
          <a:p>
            <a:r>
              <a:rPr lang="en-US" sz="2200" dirty="0"/>
              <a:t>Data Visualization</a:t>
            </a:r>
          </a:p>
          <a:p>
            <a:pPr lvl="1"/>
            <a:r>
              <a:rPr lang="en-US" sz="1800" dirty="0"/>
              <a:t>Highlight distribution of data, relationships, the composition </a:t>
            </a:r>
            <a:r>
              <a:rPr lang="en-US" sz="1800" dirty="0" err="1"/>
              <a:t>andcomparison</a:t>
            </a:r>
            <a:r>
              <a:rPr lang="en-US" sz="1800" dirty="0"/>
              <a:t> of data.</a:t>
            </a:r>
          </a:p>
          <a:p>
            <a:r>
              <a:rPr lang="en-US" sz="2200" dirty="0"/>
              <a:t>Dashboards</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6" name="Graphic 5" descr="Presentation with pie chart with solid fill">
            <a:extLst>
              <a:ext uri="{FF2B5EF4-FFF2-40B4-BE49-F238E27FC236}">
                <a16:creationId xmlns:a16="http://schemas.microsoft.com/office/drawing/2014/main" id="{1D5615A7-55B9-E0F5-0A84-57A35A57B0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9468" y="2101175"/>
            <a:ext cx="2972979" cy="2972979"/>
          </a:xfrm>
          <a:prstGeom prst="rect">
            <a:avLst/>
          </a:prstGeom>
        </p:spPr>
      </p:pic>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pic>
        <p:nvPicPr>
          <p:cNvPr id="3" name="Picture 2">
            <a:extLst>
              <a:ext uri="{FF2B5EF4-FFF2-40B4-BE49-F238E27FC236}">
                <a16:creationId xmlns:a16="http://schemas.microsoft.com/office/drawing/2014/main" id="{02CD5E27-FDCA-647D-24B2-2BC92E146A72}"/>
              </a:ext>
            </a:extLst>
          </p:cNvPr>
          <p:cNvPicPr>
            <a:picLocks noChangeAspect="1"/>
          </p:cNvPicPr>
          <p:nvPr/>
        </p:nvPicPr>
        <p:blipFill>
          <a:blip r:embed="rId3"/>
          <a:stretch>
            <a:fillRect/>
          </a:stretch>
        </p:blipFill>
        <p:spPr>
          <a:xfrm>
            <a:off x="1371601" y="1409770"/>
            <a:ext cx="9744074" cy="4543355"/>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758536" y="383051"/>
            <a:ext cx="5708765" cy="1325563"/>
          </a:xfrm>
        </p:spPr>
        <p:txBody>
          <a:bodyPr anchor="ctr">
            <a:normAutofit/>
          </a:bodyPr>
          <a:lstStyle/>
          <a:p>
            <a:r>
              <a:rPr lang="en-US" dirty="0"/>
              <a:t>POPULAR LANGUAGES</a:t>
            </a:r>
          </a:p>
        </p:txBody>
      </p:sp>
      <p:pic>
        <p:nvPicPr>
          <p:cNvPr id="3" name="Picture 2">
            <a:extLst>
              <a:ext uri="{FF2B5EF4-FFF2-40B4-BE49-F238E27FC236}">
                <a16:creationId xmlns:a16="http://schemas.microsoft.com/office/drawing/2014/main" id="{1725670B-F087-1CE6-34A3-E8FE7B6C76F8}"/>
              </a:ext>
            </a:extLst>
          </p:cNvPr>
          <p:cNvPicPr>
            <a:picLocks noChangeAspect="1"/>
          </p:cNvPicPr>
          <p:nvPr/>
        </p:nvPicPr>
        <p:blipFill>
          <a:blip r:embed="rId3"/>
          <a:stretch>
            <a:fillRect/>
          </a:stretch>
        </p:blipFill>
        <p:spPr>
          <a:xfrm>
            <a:off x="1524001" y="1571625"/>
            <a:ext cx="9686924" cy="4534264"/>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924305" y="2063170"/>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2063170"/>
            <a:ext cx="1758142" cy="501939"/>
          </a:xfrm>
        </p:spPr>
        <p:txBody>
          <a:bodyPr/>
          <a:lstStyle/>
          <a:p>
            <a:pPr marL="0" indent="0">
              <a:buNone/>
            </a:pPr>
            <a:r>
              <a:rPr lang="en-US" dirty="0"/>
              <a:t>Next Year</a:t>
            </a:r>
          </a:p>
        </p:txBody>
      </p:sp>
      <p:sp>
        <p:nvSpPr>
          <p:cNvPr id="3" name="TextBox 2">
            <a:extLst>
              <a:ext uri="{FF2B5EF4-FFF2-40B4-BE49-F238E27FC236}">
                <a16:creationId xmlns:a16="http://schemas.microsoft.com/office/drawing/2014/main" id="{551C5862-9AB9-9679-23B5-A950E973AFB5}"/>
              </a:ext>
            </a:extLst>
          </p:cNvPr>
          <p:cNvSpPr txBox="1"/>
          <p:nvPr/>
        </p:nvSpPr>
        <p:spPr>
          <a:xfrm>
            <a:off x="924305" y="1475244"/>
            <a:ext cx="10429495" cy="461665"/>
          </a:xfrm>
          <a:prstGeom prst="rect">
            <a:avLst/>
          </a:prstGeom>
          <a:noFill/>
        </p:spPr>
        <p:txBody>
          <a:bodyPr wrap="square" rtlCol="0">
            <a:spAutoFit/>
          </a:bodyPr>
          <a:lstStyle/>
          <a:p>
            <a:r>
              <a:rPr lang="en-US" sz="2400" dirty="0"/>
              <a:t>Summarize key trends shown in the charts.</a:t>
            </a:r>
          </a:p>
        </p:txBody>
      </p:sp>
      <p:pic>
        <p:nvPicPr>
          <p:cNvPr id="4" name="Picture 3" descr="A graph of numbers and letters&#10;&#10;AI-generated content may be incorrect.">
            <a:extLst>
              <a:ext uri="{FF2B5EF4-FFF2-40B4-BE49-F238E27FC236}">
                <a16:creationId xmlns:a16="http://schemas.microsoft.com/office/drawing/2014/main" id="{5D03DE39-53B2-AC7F-6A65-61DF69F3C125}"/>
              </a:ext>
            </a:extLst>
          </p:cNvPr>
          <p:cNvPicPr>
            <a:picLocks noChangeAspect="1"/>
          </p:cNvPicPr>
          <p:nvPr/>
        </p:nvPicPr>
        <p:blipFill>
          <a:blip r:embed="rId3"/>
          <a:stretch>
            <a:fillRect/>
          </a:stretch>
        </p:blipFill>
        <p:spPr>
          <a:xfrm>
            <a:off x="838200" y="2492943"/>
            <a:ext cx="5257800" cy="3169562"/>
          </a:xfrm>
          <a:prstGeom prst="rect">
            <a:avLst/>
          </a:prstGeom>
        </p:spPr>
      </p:pic>
      <p:pic>
        <p:nvPicPr>
          <p:cNvPr id="6" name="Picture 5" descr="A graph of a number of response&#10;&#10;AI-generated content may be incorrect.">
            <a:extLst>
              <a:ext uri="{FF2B5EF4-FFF2-40B4-BE49-F238E27FC236}">
                <a16:creationId xmlns:a16="http://schemas.microsoft.com/office/drawing/2014/main" id="{D5C93023-CE78-0B1C-B085-2E99F5BD576D}"/>
              </a:ext>
            </a:extLst>
          </p:cNvPr>
          <p:cNvPicPr>
            <a:picLocks noChangeAspect="1"/>
          </p:cNvPicPr>
          <p:nvPr/>
        </p:nvPicPr>
        <p:blipFill>
          <a:blip r:embed="rId4"/>
          <a:stretch>
            <a:fillRect/>
          </a:stretch>
        </p:blipFill>
        <p:spPr>
          <a:xfrm>
            <a:off x="6096000" y="2492943"/>
            <a:ext cx="5558081" cy="3169562"/>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r>
              <a:rPr lang="en-US" dirty="0"/>
              <a:t>JavaScript remains dominant but declines in desire.</a:t>
            </a:r>
          </a:p>
          <a:p>
            <a:r>
              <a:rPr lang="en-US" dirty="0"/>
              <a:t>TypeScript and Go gain momentum.</a:t>
            </a:r>
          </a:p>
          <a:p>
            <a:r>
              <a:rPr lang="en-US" dirty="0"/>
              <a:t>Rust enters the top 10 desired list.</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dirty="0"/>
              <a:t>JavaScript is still essential but may face competition.</a:t>
            </a:r>
          </a:p>
          <a:p>
            <a:r>
              <a:rPr lang="en-US" dirty="0"/>
              <a:t>TypeScript’s rise reflects demand for safer, scalable web development.</a:t>
            </a:r>
          </a:p>
          <a:p>
            <a:r>
              <a:rPr lang="en-US" dirty="0"/>
              <a:t>Rust and Go represent future opportunities.</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2065128"/>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2065127"/>
            <a:ext cx="1758142" cy="501939"/>
          </a:xfrm>
        </p:spPr>
        <p:txBody>
          <a:bodyPr/>
          <a:lstStyle/>
          <a:p>
            <a:pPr marL="0" indent="0">
              <a:buNone/>
            </a:pPr>
            <a:r>
              <a:rPr lang="en-US" dirty="0"/>
              <a:t>Next Year</a:t>
            </a:r>
          </a:p>
        </p:txBody>
      </p:sp>
      <p:sp>
        <p:nvSpPr>
          <p:cNvPr id="7" name="TextBox 6">
            <a:extLst>
              <a:ext uri="{FF2B5EF4-FFF2-40B4-BE49-F238E27FC236}">
                <a16:creationId xmlns:a16="http://schemas.microsoft.com/office/drawing/2014/main" id="{917A0CDF-0FE0-1DE3-5B09-44D4318623B8}"/>
              </a:ext>
            </a:extLst>
          </p:cNvPr>
          <p:cNvSpPr txBox="1"/>
          <p:nvPr/>
        </p:nvSpPr>
        <p:spPr>
          <a:xfrm>
            <a:off x="881252" y="1476527"/>
            <a:ext cx="10429495" cy="461665"/>
          </a:xfrm>
          <a:prstGeom prst="rect">
            <a:avLst/>
          </a:prstGeom>
          <a:noFill/>
        </p:spPr>
        <p:txBody>
          <a:bodyPr wrap="square" rtlCol="0">
            <a:spAutoFit/>
          </a:bodyPr>
          <a:lstStyle/>
          <a:p>
            <a:r>
              <a:rPr lang="en-US" sz="2400" dirty="0"/>
              <a:t>Summarize key trends shown in the charts.</a:t>
            </a:r>
          </a:p>
        </p:txBody>
      </p:sp>
      <p:pic>
        <p:nvPicPr>
          <p:cNvPr id="9" name="Picture 8" descr="A graph of different colored squares&#10;&#10;AI-generated content may be incorrect.">
            <a:extLst>
              <a:ext uri="{FF2B5EF4-FFF2-40B4-BE49-F238E27FC236}">
                <a16:creationId xmlns:a16="http://schemas.microsoft.com/office/drawing/2014/main" id="{1710CC54-86A4-1BB7-8B6D-FD9CCDB38708}"/>
              </a:ext>
            </a:extLst>
          </p:cNvPr>
          <p:cNvPicPr>
            <a:picLocks noChangeAspect="1"/>
          </p:cNvPicPr>
          <p:nvPr/>
        </p:nvPicPr>
        <p:blipFill>
          <a:blip r:embed="rId3"/>
          <a:stretch>
            <a:fillRect/>
          </a:stretch>
        </p:blipFill>
        <p:spPr>
          <a:xfrm>
            <a:off x="813815" y="2567066"/>
            <a:ext cx="5282184" cy="3442915"/>
          </a:xfrm>
          <a:prstGeom prst="rect">
            <a:avLst/>
          </a:prstGeom>
        </p:spPr>
      </p:pic>
      <p:pic>
        <p:nvPicPr>
          <p:cNvPr id="11" name="Picture 10" descr="A screen shot of a chart&#10;&#10;AI-generated content may be incorrect.">
            <a:extLst>
              <a:ext uri="{FF2B5EF4-FFF2-40B4-BE49-F238E27FC236}">
                <a16:creationId xmlns:a16="http://schemas.microsoft.com/office/drawing/2014/main" id="{72E3EB2E-DD23-9588-C586-659192B45FAE}"/>
              </a:ext>
            </a:extLst>
          </p:cNvPr>
          <p:cNvPicPr>
            <a:picLocks noChangeAspect="1"/>
          </p:cNvPicPr>
          <p:nvPr/>
        </p:nvPicPr>
        <p:blipFill>
          <a:blip r:embed="rId4"/>
          <a:stretch>
            <a:fillRect/>
          </a:stretch>
        </p:blipFill>
        <p:spPr>
          <a:xfrm>
            <a:off x="6095999" y="2567064"/>
            <a:ext cx="5282184" cy="3442915"/>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r>
              <a:rPr lang="en-US" dirty="0"/>
              <a:t>PostgreSQL leads both usage and desire.</a:t>
            </a:r>
          </a:p>
          <a:p>
            <a:r>
              <a:rPr lang="en-US" dirty="0"/>
              <a:t>Redis shows a strong “desire gap”.</a:t>
            </a:r>
          </a:p>
          <a:p>
            <a:r>
              <a:rPr lang="fr-FR" dirty="0" err="1"/>
              <a:t>Traditional</a:t>
            </a:r>
            <a:r>
              <a:rPr lang="fr-FR" dirty="0"/>
              <a:t> </a:t>
            </a:r>
            <a:r>
              <a:rPr lang="fr-FR" dirty="0" err="1"/>
              <a:t>enterprise</a:t>
            </a:r>
            <a:r>
              <a:rPr lang="fr-FR" dirty="0"/>
              <a:t> </a:t>
            </a:r>
            <a:r>
              <a:rPr lang="fr-FR" dirty="0" err="1"/>
              <a:t>databases</a:t>
            </a:r>
            <a:r>
              <a:rPr lang="fr-FR" dirty="0"/>
              <a:t> lag in </a:t>
            </a:r>
            <a:r>
              <a:rPr lang="fr-FR" dirty="0" err="1"/>
              <a:t>desire</a:t>
            </a:r>
            <a:r>
              <a:rPr lang="fr-FR" dirty="0"/>
              <a:t>.</a:t>
            </a:r>
            <a:endParaRPr lang="en-US" dirty="0"/>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dirty="0"/>
              <a:t>PostgreSQL is consolidating its dominance.</a:t>
            </a:r>
          </a:p>
          <a:p>
            <a:r>
              <a:rPr lang="en-US" dirty="0"/>
              <a:t>Redis is an emerging priority.</a:t>
            </a:r>
          </a:p>
          <a:p>
            <a:r>
              <a:rPr lang="en-US" dirty="0"/>
              <a:t>Shift away from legacy enterprise systems.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p:txBody>
          <a:bodyPr anchor="ctr">
            <a:normAutofit/>
          </a:bodyPr>
          <a:lstStyle/>
          <a:p>
            <a:r>
              <a:rPr lang="en-US" dirty="0"/>
              <a:t>DASHBOARD</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706582" y="365125"/>
            <a:ext cx="11087100" cy="985693"/>
          </a:xfrm>
        </p:spPr>
        <p:txBody>
          <a:bodyPr anchor="ctr">
            <a:noAutofit/>
          </a:bodyPr>
          <a:lstStyle/>
          <a:p>
            <a:r>
              <a:rPr lang="en-US" dirty="0"/>
              <a:t>DASHBOARD TAB 1: Current Technology Usage</a:t>
            </a:r>
          </a:p>
        </p:txBody>
      </p:sp>
      <p:pic>
        <p:nvPicPr>
          <p:cNvPr id="7" name="Picture 6" descr="A screenshot of a computer screen&#10;&#10;AI-generated content may be incorrect.">
            <a:extLst>
              <a:ext uri="{FF2B5EF4-FFF2-40B4-BE49-F238E27FC236}">
                <a16:creationId xmlns:a16="http://schemas.microsoft.com/office/drawing/2014/main" id="{13B98EB9-785F-91DC-9CB2-E22DEE25B216}"/>
              </a:ext>
            </a:extLst>
          </p:cNvPr>
          <p:cNvPicPr>
            <a:picLocks noChangeAspect="1"/>
          </p:cNvPicPr>
          <p:nvPr/>
        </p:nvPicPr>
        <p:blipFill>
          <a:blip r:embed="rId3"/>
          <a:stretch>
            <a:fillRect/>
          </a:stretch>
        </p:blipFill>
        <p:spPr>
          <a:xfrm>
            <a:off x="1691179" y="1424505"/>
            <a:ext cx="9117906" cy="4612613"/>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pic>
        <p:nvPicPr>
          <p:cNvPr id="7" name="Picture 6" descr="A close-up of a graph&#10;&#10;AI-generated content may be incorrect.">
            <a:extLst>
              <a:ext uri="{FF2B5EF4-FFF2-40B4-BE49-F238E27FC236}">
                <a16:creationId xmlns:a16="http://schemas.microsoft.com/office/drawing/2014/main" id="{87E1AFEF-17D0-CB4A-44C3-8038066E93BA}"/>
              </a:ext>
            </a:extLst>
          </p:cNvPr>
          <p:cNvPicPr>
            <a:picLocks noChangeAspect="1"/>
          </p:cNvPicPr>
          <p:nvPr/>
        </p:nvPicPr>
        <p:blipFill>
          <a:blip r:embed="rId3"/>
          <a:stretch>
            <a:fillRect/>
          </a:stretch>
        </p:blipFill>
        <p:spPr>
          <a:xfrm>
            <a:off x="879764" y="1445857"/>
            <a:ext cx="10432472" cy="4880763"/>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r>
              <a:rPr lang="en-US" dirty="0"/>
              <a:t>DASHBOARD TAB 3: Demographics</a:t>
            </a:r>
          </a:p>
        </p:txBody>
      </p:sp>
      <p:pic>
        <p:nvPicPr>
          <p:cNvPr id="7" name="Picture 6" descr="A close-up of a graph&#10;&#10;AI-generated content may be incorrect.">
            <a:extLst>
              <a:ext uri="{FF2B5EF4-FFF2-40B4-BE49-F238E27FC236}">
                <a16:creationId xmlns:a16="http://schemas.microsoft.com/office/drawing/2014/main" id="{F33183C4-FB3D-BDF6-D898-F2FBCAF644A9}"/>
              </a:ext>
            </a:extLst>
          </p:cNvPr>
          <p:cNvPicPr>
            <a:picLocks noChangeAspect="1"/>
          </p:cNvPicPr>
          <p:nvPr/>
        </p:nvPicPr>
        <p:blipFill>
          <a:blip r:embed="rId3"/>
          <a:stretch>
            <a:fillRect/>
          </a:stretch>
        </p:blipFill>
        <p:spPr>
          <a:xfrm>
            <a:off x="1059873" y="1427276"/>
            <a:ext cx="10110354" cy="4791682"/>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081155" y="1825625"/>
            <a:ext cx="6272645" cy="4351338"/>
          </a:xfrm>
        </p:spPr>
        <p:txBody>
          <a:bodyPr>
            <a:normAutofit/>
          </a:bodyPr>
          <a:lstStyle/>
          <a:p>
            <a:pPr marL="0" indent="0">
              <a:buNone/>
            </a:pPr>
            <a:r>
              <a:rPr lang="en-US" sz="2000" dirty="0"/>
              <a:t>The dashboards highlight that developers continue to rely on core technologies such as JavaScript, SQL, React, AWS, and PostgreSQL, while showing strong future interest in emerging tools like TypeScript, Rust, Redis, Next.js, and modern cloud platforms. This reflects a clear industry transition: balancing established, widely adopted technologies with newer, performance-driven and developer-friendly solutions. Demographic data further shows a young, highly educated, globally distributed workforce, suggesting rapid adoption of modern tools and accelerating innovation across the industry.</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fontScale="77500" lnSpcReduction="20000"/>
          </a:bodyPr>
          <a:lstStyle/>
          <a:p>
            <a:pPr marL="0" indent="0">
              <a:buNone/>
            </a:pPr>
            <a:r>
              <a:rPr lang="en-US" dirty="0"/>
              <a:t>Findings</a:t>
            </a:r>
          </a:p>
          <a:p>
            <a:r>
              <a:rPr lang="en-US" b="1" dirty="0"/>
              <a:t>Core technologies dominate:</a:t>
            </a:r>
            <a:r>
              <a:rPr lang="en-US" dirty="0"/>
              <a:t> JavaScript, SQL, React, AWS, and PostgreSQL are the most widely used across developers.</a:t>
            </a:r>
          </a:p>
          <a:p>
            <a:r>
              <a:rPr lang="en-US" b="1" dirty="0"/>
              <a:t>Emerging tools gain traction:</a:t>
            </a:r>
            <a:r>
              <a:rPr lang="en-US" dirty="0"/>
              <a:t> TypeScript, Rust, Redis, Next.js, and modern cloud platforms show strong future interest.</a:t>
            </a:r>
          </a:p>
          <a:p>
            <a:r>
              <a:rPr lang="en-US" b="1" dirty="0"/>
              <a:t>Developer demographics:</a:t>
            </a:r>
            <a:r>
              <a:rPr lang="en-US" dirty="0"/>
              <a:t> The majority are young (25–34), highly educated, and globally distributed, with strong representation from the US and UK.</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a:normAutofit fontScale="77500" lnSpcReduction="20000"/>
          </a:bodyPr>
          <a:lstStyle/>
          <a:p>
            <a:pPr marL="0" indent="0">
              <a:buNone/>
            </a:pPr>
            <a:r>
              <a:rPr lang="en-US" dirty="0"/>
              <a:t>Implications</a:t>
            </a:r>
          </a:p>
          <a:p>
            <a:r>
              <a:rPr lang="en-US" b="1" dirty="0"/>
              <a:t>Balanced skill strategy:</a:t>
            </a:r>
            <a:r>
              <a:rPr lang="en-US" dirty="0"/>
              <a:t> Developers should maintain proficiency in dominant technologies while investing in rising ones to stay competitive.</a:t>
            </a:r>
          </a:p>
          <a:p>
            <a:r>
              <a:rPr lang="en-US" b="1" dirty="0"/>
              <a:t>Industry transition:</a:t>
            </a:r>
            <a:r>
              <a:rPr lang="en-US" dirty="0"/>
              <a:t> Organizations are shifting from legacy enterprise systems toward open-source, cloud-native, and developer-friendly ecosystems.</a:t>
            </a:r>
          </a:p>
          <a:p>
            <a:r>
              <a:rPr lang="en-US" b="1" dirty="0"/>
              <a:t>Innovation potential:</a:t>
            </a:r>
            <a:r>
              <a:rPr lang="en-US" dirty="0"/>
              <a:t> A young, educated, global workforce will accelerate adoption of modern tools and drive rapid technological change.</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b="1" dirty="0"/>
              <a:t>Core technologies remain dominant</a:t>
            </a:r>
            <a:r>
              <a:rPr lang="en-US" dirty="0"/>
              <a:t> — JavaScript, SQL, React, AWS, and PostgreSQL continue to be the backbone of development.</a:t>
            </a:r>
          </a:p>
          <a:p>
            <a:r>
              <a:rPr lang="en-US" b="1" dirty="0"/>
              <a:t>Emerging tools gain traction</a:t>
            </a:r>
            <a:r>
              <a:rPr lang="en-US" dirty="0"/>
              <a:t> — TypeScript, Rust, Redis, Next.js, and modern cloud platforms show strong future interest.</a:t>
            </a:r>
          </a:p>
          <a:p>
            <a:r>
              <a:rPr lang="en-US" b="1" dirty="0"/>
              <a:t>Industry shift underway</a:t>
            </a:r>
            <a:r>
              <a:rPr lang="en-US" dirty="0"/>
              <a:t> — Organizations are moving away from legacy enterprise systems toward open-source, cloud-native, and developer-friendly solutions.</a:t>
            </a:r>
          </a:p>
          <a:p>
            <a:r>
              <a:rPr lang="en-US" b="1" dirty="0"/>
              <a:t>Demographics drive innovation</a:t>
            </a:r>
            <a:r>
              <a:rPr lang="en-US" dirty="0"/>
              <a:t> — A young, highly educated, globally distributed developer base accelerates adoption of modern tools and fuels rapid technological change.</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Include any relevant additional charts, or tables that you may have created during the analysis phase.</a:t>
            </a:r>
            <a:endParaRPr lang="en-US" dirty="0"/>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4DA07C5-A406-4A0D-B3E6-3856C94AC7F3}">
  <ds:schemaRefs>
    <ds:schemaRef ds:uri="http://purl.org/dc/elements/1.1/"/>
    <ds:schemaRef ds:uri="f80a141d-92ca-4d3d-9308-f7e7b1d44ce8"/>
    <ds:schemaRef ds:uri="http://schemas.microsoft.com/office/2006/documentManagement/types"/>
    <ds:schemaRef ds:uri="http://schemas.openxmlformats.org/package/2006/metadata/core-properties"/>
    <ds:schemaRef ds:uri="http://schemas.microsoft.com/office/2006/metadata/properties"/>
    <ds:schemaRef ds:uri="http://schemas.microsoft.com/office/infopath/2007/PartnerControls"/>
    <ds:schemaRef ds:uri="http://purl.org/dc/dcmitype/"/>
    <ds:schemaRef ds:uri="155be751-a274-42e8-93fb-f39d3b9bccc8"/>
    <ds:schemaRef ds:uri="http://www.w3.org/XML/1998/namespace"/>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435</TotalTime>
  <Words>659</Words>
  <Application>Microsoft Office PowerPoint</Application>
  <PresentationFormat>Widescreen</PresentationFormat>
  <Paragraphs>91</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Helv</vt:lpstr>
      <vt:lpstr>IBM Plex Mono</vt:lpstr>
      <vt:lpstr>IBM Plex Mono Medium</vt:lpstr>
      <vt:lpstr>IBM Plex Sans</vt:lpstr>
      <vt:lpstr>IBM Plex Sans SemiBold</vt:lpstr>
      <vt:lpstr>SLIDE_TEMPLATE_skill_network</vt:lpstr>
      <vt:lpstr>Stack Overflow Developer Survey</vt:lpstr>
      <vt:lpstr>PowerPoint Presentation</vt:lpstr>
      <vt:lpstr>EXECUTIVE SUMMARY</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2: Future Technology Trends</vt:lpstr>
      <vt:lpstr>DASHBOARD TAB 3: Demographics</vt:lpstr>
      <vt:lpstr>DISCUSSION</vt:lpstr>
      <vt:lpstr>OVERALL FINDINGS &amp; IMPLICATIONS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Jan Paolo</cp:lastModifiedBy>
  <cp:revision>7</cp:revision>
  <dcterms:created xsi:type="dcterms:W3CDTF">2024-10-30T05:40:03Z</dcterms:created>
  <dcterms:modified xsi:type="dcterms:W3CDTF">2026-02-17T20:28:47Z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